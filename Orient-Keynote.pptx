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" y="786384"/>
            <a:ext cx="566928" cy="566928"/>
          </a:xfrm>
          <a:prstGeom prst="ellipse">
            <a:avLst/>
          </a:prstGeom>
          <a:solidFill>
            <a:srgbClr val="FF00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4-Point Star 3"/>
          <p:cNvSpPr/>
          <p:nvPr/>
        </p:nvSpPr>
        <p:spPr>
          <a:xfrm>
            <a:off x="909279" y="854415"/>
            <a:ext cx="430866" cy="430866"/>
          </a:xfrm>
          <a:prstGeom prst="star4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17904" y="786384"/>
            <a:ext cx="3657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0">
                <a:solidFill>
                  <a:srgbClr val="F2EEE7"/>
                </a:solidFill>
                <a:latin typeface="Georgia"/>
              </a:rPr>
              <a:t>Orient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46888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 spc="220">
                <a:solidFill>
                  <a:srgbClr val="7C95B1"/>
                </a:solidFill>
                <a:latin typeface="Menlo"/>
              </a:rPr>
              <a:t>MEANING OPERATING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907792"/>
            <a:ext cx="10058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200" b="0" i="0">
                <a:solidFill>
                  <a:srgbClr val="F2EEE7"/>
                </a:solidFill>
                <a:latin typeface="Georgia"/>
              </a:rPr>
              <a:t>A meaning operating system
for humans </a:t>
            </a:r>
            <a:r>
              <a:rPr sz="5200" b="0" i="1">
                <a:solidFill>
                  <a:srgbClr val="A56C49"/>
                </a:solidFill>
                <a:latin typeface="Georgia"/>
              </a:rPr>
              <a:t>and</a:t>
            </a:r>
            <a:r>
              <a:rPr sz="5200" b="0" i="0">
                <a:solidFill>
                  <a:srgbClr val="F2EEE7"/>
                </a:solidFill>
                <a:latin typeface="Georgia"/>
              </a:rPr>
              <a:t> machines.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507492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96918C"/>
                </a:solidFill>
                <a:latin typeface="Helvetica Neue"/>
              </a:rPr>
              <a:t>Where knowledge becomes meaning — captured, resolved, framed, measured and remembered — so people and the agents beside them act from the same understanding.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61996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 spc="160">
                <a:solidFill>
                  <a:srgbClr val="7F7974"/>
                </a:solidFill>
                <a:latin typeface="Menlo"/>
              </a:rPr>
              <a:t>Investor keynote  ·  Stockholm  ·  orientos.ai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 spc="170">
                <a:solidFill>
                  <a:srgbClr val="7F7974"/>
                </a:solidFill>
                <a:latin typeface="Menlo"/>
              </a:rPr>
              <a:t>THE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148840"/>
            <a:ext cx="10058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000" b="0" i="0">
                <a:solidFill>
                  <a:srgbClr val="251F1B"/>
                </a:solidFill>
                <a:latin typeface="Georgia"/>
              </a:rPr>
              <a:t>Making the work was never the hard part.
</a:t>
            </a:r>
            <a:r>
              <a:rPr sz="5000" b="0" i="1">
                <a:solidFill>
                  <a:srgbClr val="A56C49"/>
                </a:solidFill>
                <a:latin typeface="Georgia"/>
              </a:rPr>
              <a:t>Trusting it</a:t>
            </a:r>
            <a:r>
              <a:rPr sz="5000" b="0" i="0">
                <a:solidFill>
                  <a:srgbClr val="251F1B"/>
                </a:solidFill>
                <a:latin typeface="Georgia"/>
              </a:rPr>
              <a:t> is.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4297680"/>
            <a:ext cx="2743200" cy="0"/>
          </a:xfrm>
          <a:prstGeom prst="bentConnector3">
            <a:avLst/>
          </a:prstGeom>
          <a:ln w="25400">
            <a:solidFill>
              <a:srgbClr val="A56C4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41248" y="4526280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0" i="1">
                <a:solidFill>
                  <a:srgbClr val="524C47"/>
                </a:solidFill>
                <a:latin typeface="Georgia"/>
              </a:rPr>
              <a:t>Anyone can generate a deck, a memo, an answer. Knowing it is true, clear and actually understood — that is the work that's left.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41248" y="6455664"/>
            <a:ext cx="10509199" cy="0"/>
          </a:xfrm>
          <a:prstGeom prst="bentConnector3">
            <a:avLst/>
          </a:prstGeom>
          <a:ln w="9525">
            <a:solidFill>
              <a:srgbClr val="C2BD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41248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200">
                <a:solidFill>
                  <a:srgbClr val="251F1B"/>
                </a:solidFill>
                <a:latin typeface="Menlo"/>
              </a:rPr>
              <a:t>ORIENT</a:t>
            </a:r>
            <a:r>
              <a:rPr sz="900" b="0" i="0" spc="120">
                <a:solidFill>
                  <a:srgbClr val="7F7974"/>
                </a:solidFill>
                <a:latin typeface="Menlo"/>
              </a:rPr>
              <a:t>  ·  meaning 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92847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20">
                <a:solidFill>
                  <a:srgbClr val="A56C49"/>
                </a:solidFill>
                <a:latin typeface="Menlo"/>
              </a:rPr>
              <a:t>02</a:t>
            </a:r>
            <a:r>
              <a:rPr sz="900" b="0" i="0" spc="120">
                <a:solidFill>
                  <a:srgbClr val="7F7974"/>
                </a:solidFill>
                <a:latin typeface="Menlo"/>
              </a:rPr>
              <a:t>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 spc="170">
                <a:solidFill>
                  <a:srgbClr val="7F7974"/>
                </a:solidFill>
                <a:latin typeface="Menlo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280160"/>
            <a:ext cx="10058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0" i="0">
                <a:solidFill>
                  <a:srgbClr val="251F1B"/>
                </a:solidFill>
                <a:latin typeface="Georgia"/>
              </a:rPr>
              <a:t>More communication than ever.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0" i="0">
                <a:solidFill>
                  <a:srgbClr val="251F1B"/>
                </a:solidFill>
                <a:latin typeface="Georgia"/>
              </a:rPr>
              <a:t>Less shared understanding.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2004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524C47"/>
                </a:solidFill>
                <a:latin typeface="Helvetica Neue"/>
              </a:rPr>
              <a:t>Organisations produce more decks, briefs, docs, updates and AI-generated material than ever — </a:t>
            </a:r>
            <a:r>
              <a:rPr sz="1900" b="1" i="0">
                <a:solidFill>
                  <a:srgbClr val="251F1B"/>
                </a:solidFill>
                <a:latin typeface="Helvetica Neue"/>
              </a:rPr>
              <a:t>and assume alignment follows. It rarely does.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5262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524C47"/>
                </a:solidFill>
                <a:latin typeface="Helvetica Neue"/>
              </a:rPr>
              <a:t>As ideas move across teams, meetings, tools — and now agents — meaning shifts, intent fragments, and decisions drift. The output keeps accelerating. The shared understanding does not.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41248" y="6455664"/>
            <a:ext cx="10509199" cy="0"/>
          </a:xfrm>
          <a:prstGeom prst="bentConnector3">
            <a:avLst/>
          </a:prstGeom>
          <a:ln w="9525">
            <a:solidFill>
              <a:srgbClr val="C2BD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41248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200">
                <a:solidFill>
                  <a:srgbClr val="251F1B"/>
                </a:solidFill>
                <a:latin typeface="Menlo"/>
              </a:rPr>
              <a:t>ORIENT</a:t>
            </a:r>
            <a:r>
              <a:rPr sz="900" b="0" i="0" spc="120">
                <a:solidFill>
                  <a:srgbClr val="7F7974"/>
                </a:solidFill>
                <a:latin typeface="Menlo"/>
              </a:rPr>
              <a:t>  ·  meaning 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92847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20">
                <a:solidFill>
                  <a:srgbClr val="A56C49"/>
                </a:solidFill>
                <a:latin typeface="Menlo"/>
              </a:rPr>
              <a:t>03</a:t>
            </a:r>
            <a:r>
              <a:rPr sz="900" b="0" i="0" spc="120">
                <a:solidFill>
                  <a:srgbClr val="7F7974"/>
                </a:solidFill>
                <a:latin typeface="Menlo"/>
              </a:rPr>
              <a:t>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 spc="170">
                <a:solidFill>
                  <a:srgbClr val="7C95B1"/>
                </a:solidFill>
                <a:latin typeface="Menlo"/>
              </a:rP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280160"/>
            <a:ext cx="10058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F2EEE7"/>
                </a:solidFill>
                <a:latin typeface="Georgia"/>
              </a:rPr>
              <a:t>Two forces are colliding.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2468880"/>
            <a:ext cx="5048859" cy="2468880"/>
          </a:xfrm>
          <a:prstGeom prst="rect">
            <a:avLst/>
          </a:prstGeom>
          <a:solidFill>
            <a:srgbClr val="292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2144" y="2743200"/>
            <a:ext cx="44270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spc="150">
                <a:solidFill>
                  <a:srgbClr val="A56C49"/>
                </a:solidFill>
                <a:latin typeface="Menlo"/>
              </a:rPr>
              <a:t>FORCE 01 · INFINITE OUTPUT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52144.0" y="3145536"/>
            <a:ext cx="4427067.5" cy="0"/>
          </a:xfrm>
          <a:prstGeom prst="bentConnector3">
            <a:avLst/>
          </a:prstGeom>
          <a:ln w="9525">
            <a:solidFill>
              <a:srgbClr val="7F797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152144" y="3337560"/>
            <a:ext cx="4427067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96918C"/>
                </a:solidFill>
                <a:latin typeface="Helvetica Neue"/>
              </a:rPr>
              <a:t>AI can now generate unlimited content — fast, fluent, and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96918C"/>
                </a:solidFill>
                <a:latin typeface="Helvetica Neue"/>
              </a:rPr>
              <a:t>impossible to fully trust. Volume is no longer the constraint.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1587" y="2468880"/>
            <a:ext cx="5048859" cy="2468880"/>
          </a:xfrm>
          <a:prstGeom prst="rect">
            <a:avLst/>
          </a:prstGeom>
          <a:solidFill>
            <a:srgbClr val="292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12483" y="2743200"/>
            <a:ext cx="44270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spc="150">
                <a:solidFill>
                  <a:srgbClr val="7C95B1"/>
                </a:solidFill>
                <a:latin typeface="Menlo"/>
              </a:rPr>
              <a:t>FORCE 02 · AGENTS THAT ACT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612483.5" y="3145536"/>
            <a:ext cx="4427067.5" cy="0"/>
          </a:xfrm>
          <a:prstGeom prst="bentConnector3">
            <a:avLst/>
          </a:prstGeom>
          <a:ln w="9525">
            <a:solidFill>
              <a:srgbClr val="7F797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612483" y="3337560"/>
            <a:ext cx="4427067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96918C"/>
                </a:solidFill>
                <a:latin typeface="Helvetica Neue"/>
              </a:rPr>
              <a:t>Agents are starting to act on company knowledge directly —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96918C"/>
                </a:solidFill>
                <a:latin typeface="Helvetica Neue"/>
              </a:rPr>
              <a:t>and they guess what's true, current, and allowed to be said.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521208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96918C"/>
                </a:solidFill>
                <a:latin typeface="Helvetica Neue"/>
              </a:rPr>
              <a:t>The bottleneck moves from producing to trusting. The edge is no longer faster output — it's </a:t>
            </a:r>
            <a:r>
              <a:rPr sz="1900" b="1" i="1">
                <a:solidFill>
                  <a:srgbClr val="F2EEE7"/>
                </a:solidFill>
                <a:latin typeface="Georgia"/>
              </a:rPr>
              <a:t>durable alignment.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41248" y="6455664"/>
            <a:ext cx="10509199" cy="0"/>
          </a:xfrm>
          <a:prstGeom prst="bentConnector3">
            <a:avLst/>
          </a:prstGeom>
          <a:ln w="9525">
            <a:solidFill>
              <a:srgbClr val="29231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41248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200">
                <a:solidFill>
                  <a:srgbClr val="F2EEE7"/>
                </a:solidFill>
                <a:latin typeface="Menlo"/>
              </a:rPr>
              <a:t>ORIENT</a:t>
            </a:r>
            <a:r>
              <a:rPr sz="900" b="0" i="0" spc="120">
                <a:solidFill>
                  <a:srgbClr val="96918C"/>
                </a:solidFill>
                <a:latin typeface="Menlo"/>
              </a:rPr>
              <a:t>  ·  meaning 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92847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20">
                <a:solidFill>
                  <a:srgbClr val="54769C"/>
                </a:solidFill>
                <a:latin typeface="Menlo"/>
              </a:rPr>
              <a:t>04</a:t>
            </a:r>
            <a:r>
              <a:rPr sz="900" b="0" i="0" spc="120">
                <a:solidFill>
                  <a:srgbClr val="96918C"/>
                </a:solidFill>
                <a:latin typeface="Menlo"/>
              </a:rPr>
              <a:t>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 spc="170">
                <a:solidFill>
                  <a:srgbClr val="7F7974"/>
                </a:solidFill>
                <a:latin typeface="Menlo"/>
              </a:rPr>
              <a:t>THE CORE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280160"/>
            <a:ext cx="10058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0" i="0">
                <a:solidFill>
                  <a:srgbClr val="251F1B"/>
                </a:solidFill>
                <a:latin typeface="Georgia"/>
              </a:rPr>
              <a:t>Orient has two customers of meaning.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2423160"/>
            <a:ext cx="5048859" cy="2468880"/>
          </a:xfrm>
          <a:prstGeom prst="rect">
            <a:avLst/>
          </a:prstGeom>
          <a:solidFill>
            <a:srgbClr val="F2EDE4"/>
          </a:solidFill>
          <a:ln w="12700">
            <a:solidFill>
              <a:srgbClr val="DAD5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2144" y="2697480"/>
            <a:ext cx="44270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spc="150">
                <a:solidFill>
                  <a:srgbClr val="A56C49"/>
                </a:solidFill>
                <a:latin typeface="Menlo"/>
              </a:rPr>
              <a:t>FOR HUMANS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52144.0" y="3099816"/>
            <a:ext cx="4427067.5" cy="0"/>
          </a:xfrm>
          <a:prstGeom prst="bentConnector3">
            <a:avLst/>
          </a:prstGeom>
          <a:ln w="9525">
            <a:solidFill>
              <a:srgbClr val="C2BD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152144" y="3291840"/>
            <a:ext cx="4427067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524C47"/>
                </a:solidFill>
                <a:latin typeface="Helvetica Neue"/>
              </a:rPr>
              <a:t>A thinking space to understand, decide, explain and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524C47"/>
                </a:solidFill>
                <a:latin typeface="Helvetica Neue"/>
              </a:rPr>
              <a:t>remember what matters.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524C47"/>
                </a:solidFill>
                <a:latin typeface="Helvetica Neue"/>
              </a:rPr>
              <a:t/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524C47"/>
                </a:solidFill>
                <a:latin typeface="Helvetica Neue"/>
              </a:rPr>
              <a:t>Humans use Orient to think.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1587" y="2423160"/>
            <a:ext cx="5048859" cy="2468880"/>
          </a:xfrm>
          <a:prstGeom prst="rect">
            <a:avLst/>
          </a:prstGeom>
          <a:solidFill>
            <a:srgbClr val="F2EDE4"/>
          </a:solidFill>
          <a:ln w="12700">
            <a:solidFill>
              <a:srgbClr val="DAD5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12483" y="2697480"/>
            <a:ext cx="44270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spc="150">
                <a:solidFill>
                  <a:srgbClr val="54769C"/>
                </a:solidFill>
                <a:latin typeface="Menlo"/>
              </a:rPr>
              <a:t>FOR MACHINES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612483.5" y="3099816"/>
            <a:ext cx="4427067.5" cy="0"/>
          </a:xfrm>
          <a:prstGeom prst="bentConnector3">
            <a:avLst/>
          </a:prstGeom>
          <a:ln w="9525">
            <a:solidFill>
              <a:srgbClr val="C2BD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612483" y="3291840"/>
            <a:ext cx="4427067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524C47"/>
                </a:solidFill>
                <a:latin typeface="Helvetica Neue"/>
              </a:rPr>
              <a:t>Structured meaning, evidence and constraints that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524C47"/>
                </a:solidFill>
                <a:latin typeface="Helvetica Neue"/>
              </a:rPr>
              <a:t>agents can act on.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524C47"/>
                </a:solidFill>
                <a:latin typeface="Helvetica Neue"/>
              </a:rPr>
              <a:t/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524C47"/>
                </a:solidFill>
                <a:latin typeface="Helvetica Neue"/>
              </a:rPr>
              <a:t>Agents use Orient to understand.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521208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7F7974"/>
                </a:solidFill>
                <a:latin typeface="Helvetica Neue"/>
              </a:rPr>
              <a:t>Old roadmap: build tools so humans make better outputs.   </a:t>
            </a:r>
            <a:r>
              <a:rPr sz="1550" b="1" i="0">
                <a:solidFill>
                  <a:srgbClr val="251F1B"/>
                </a:solidFill>
                <a:latin typeface="Helvetica Neue"/>
              </a:rPr>
              <a:t>New roadmap: build the meaning infrastructure humans and agents share.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41248" y="6455664"/>
            <a:ext cx="10509199" cy="0"/>
          </a:xfrm>
          <a:prstGeom prst="bentConnector3">
            <a:avLst/>
          </a:prstGeom>
          <a:ln w="9525">
            <a:solidFill>
              <a:srgbClr val="C2BD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41248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200">
                <a:solidFill>
                  <a:srgbClr val="251F1B"/>
                </a:solidFill>
                <a:latin typeface="Menlo"/>
              </a:rPr>
              <a:t>ORIENT</a:t>
            </a:r>
            <a:r>
              <a:rPr sz="900" b="0" i="0" spc="120">
                <a:solidFill>
                  <a:srgbClr val="7F7974"/>
                </a:solidFill>
                <a:latin typeface="Menlo"/>
              </a:rPr>
              <a:t>  ·  meaning 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92847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20">
                <a:solidFill>
                  <a:srgbClr val="A56C49"/>
                </a:solidFill>
                <a:latin typeface="Menlo"/>
              </a:rPr>
              <a:t>05</a:t>
            </a:r>
            <a:r>
              <a:rPr sz="900" b="0" i="0" spc="120">
                <a:solidFill>
                  <a:srgbClr val="7F7974"/>
                </a:solidFill>
                <a:latin typeface="Menlo"/>
              </a:rPr>
              <a:t>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 spc="170">
                <a:solidFill>
                  <a:srgbClr val="7C95B1"/>
                </a:solidFill>
                <a:latin typeface="Menlo"/>
              </a:rPr>
              <a:t>THE DIFFERENCE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280160"/>
            <a:ext cx="10058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F2EEE7"/>
                </a:solidFill>
                <a:latin typeface="Georgia"/>
              </a:rPr>
              <a:t>Retrieval hands an agent chunks.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F2EEE7"/>
                </a:solidFill>
                <a:latin typeface="Georgia"/>
              </a:rPr>
              <a:t>Orient hands it understanding.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3154680"/>
            <a:ext cx="5048859" cy="2468880"/>
          </a:xfrm>
          <a:prstGeom prst="rect">
            <a:avLst/>
          </a:prstGeom>
          <a:solidFill>
            <a:srgbClr val="292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2144" y="3429000"/>
            <a:ext cx="44270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spc="150">
                <a:solidFill>
                  <a:srgbClr val="96918C"/>
                </a:solidFill>
                <a:latin typeface="Menlo"/>
              </a:rPr>
              <a:t>RAW RETRIEVAL RETURNS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52144.0" y="3831336"/>
            <a:ext cx="4427067.5" cy="0"/>
          </a:xfrm>
          <a:prstGeom prst="bentConnector3">
            <a:avLst/>
          </a:prstGeom>
          <a:ln w="9525">
            <a:solidFill>
              <a:srgbClr val="7F797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152144" y="4023360"/>
            <a:ext cx="4427067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96918C"/>
                </a:solidFill>
                <a:latin typeface="Helvetica Neue"/>
              </a:rPr>
              <a:t>→  The top-k most similar passages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96918C"/>
                </a:solidFill>
                <a:latin typeface="Helvetica Neue"/>
              </a:rPr>
              <a:t>→  No sense of what is current or stale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96918C"/>
                </a:solidFill>
                <a:latin typeface="Helvetica Neue"/>
              </a:rPr>
              <a:t>→  No record of what's contested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96918C"/>
                </a:solidFill>
                <a:latin typeface="Helvetica Neue"/>
              </a:rPr>
              <a:t>→  No constraints on what may be said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1587" y="3154680"/>
            <a:ext cx="5048859" cy="2468880"/>
          </a:xfrm>
          <a:prstGeom prst="rect">
            <a:avLst/>
          </a:prstGeom>
          <a:solidFill>
            <a:srgbClr val="292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12483" y="3429000"/>
            <a:ext cx="44270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spc="150">
                <a:solidFill>
                  <a:srgbClr val="7C95B1"/>
                </a:solidFill>
                <a:latin typeface="Menlo"/>
              </a:rPr>
              <a:t>ORIENT RETURNS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612483.5" y="3831336"/>
            <a:ext cx="4427067.5" cy="0"/>
          </a:xfrm>
          <a:prstGeom prst="bentConnector3">
            <a:avLst/>
          </a:prstGeom>
          <a:ln w="9525">
            <a:solidFill>
              <a:srgbClr val="7F797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612483" y="4023360"/>
            <a:ext cx="4427067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96918C"/>
                </a:solidFill>
                <a:latin typeface="Helvetica Neue"/>
              </a:rPr>
              <a:t>→  The current answer and its grounding status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96918C"/>
                </a:solidFill>
                <a:latin typeface="Helvetica Neue"/>
              </a:rPr>
              <a:t>→  Support, contradictions and weak spots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96918C"/>
                </a:solidFill>
                <a:latin typeface="Helvetica Neue"/>
              </a:rPr>
              <a:t>→  What's resolved vs. still an open question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96918C"/>
                </a:solidFill>
                <a:latin typeface="Helvetica Neue"/>
              </a:rPr>
              <a:t>→  Whether it's safe to act — or escalate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41248" y="6455664"/>
            <a:ext cx="10509199" cy="0"/>
          </a:xfrm>
          <a:prstGeom prst="bentConnector3">
            <a:avLst/>
          </a:prstGeom>
          <a:ln w="9525">
            <a:solidFill>
              <a:srgbClr val="29231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41248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200">
                <a:solidFill>
                  <a:srgbClr val="F2EEE7"/>
                </a:solidFill>
                <a:latin typeface="Menlo"/>
              </a:rPr>
              <a:t>ORIENT</a:t>
            </a:r>
            <a:r>
              <a:rPr sz="900" b="0" i="0" spc="120">
                <a:solidFill>
                  <a:srgbClr val="96918C"/>
                </a:solidFill>
                <a:latin typeface="Menlo"/>
              </a:rPr>
              <a:t>  ·  meaning 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2847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20">
                <a:solidFill>
                  <a:srgbClr val="54769C"/>
                </a:solidFill>
                <a:latin typeface="Menlo"/>
              </a:rPr>
              <a:t>06</a:t>
            </a:r>
            <a:r>
              <a:rPr sz="900" b="0" i="0" spc="120">
                <a:solidFill>
                  <a:srgbClr val="96918C"/>
                </a:solidFill>
                <a:latin typeface="Menlo"/>
              </a:rPr>
              <a:t>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 spc="170">
                <a:solidFill>
                  <a:srgbClr val="A56C49"/>
                </a:solidFill>
                <a:latin typeface="Menlo"/>
              </a:rPr>
              <a:t>FOR HUMANS · THE CORE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280160"/>
            <a:ext cx="104241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 i="0">
                <a:solidFill>
                  <a:srgbClr val="251F1B"/>
                </a:solidFill>
                <a:latin typeface="Georgia"/>
              </a:rPr>
              <a:t>From raw material to shared understanding.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2651760"/>
            <a:ext cx="1897014" cy="2286000"/>
          </a:xfrm>
          <a:prstGeom prst="rect">
            <a:avLst/>
          </a:prstGeom>
          <a:solidFill>
            <a:srgbClr val="F2EDE4"/>
          </a:solidFill>
          <a:ln w="12700">
            <a:solidFill>
              <a:srgbClr val="DAD5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2852928"/>
            <a:ext cx="189701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 spc="100">
                <a:solidFill>
                  <a:srgbClr val="A56C49"/>
                </a:solidFill>
                <a:latin typeface="Menlo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3255264"/>
            <a:ext cx="162269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251F1B"/>
                </a:solidFill>
                <a:latin typeface="Georgia"/>
              </a:rPr>
              <a:t>Capture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3730752"/>
            <a:ext cx="158611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24C47"/>
                </a:solidFill>
                <a:latin typeface="Helvetica Neue"/>
              </a:rPr>
              <a:t>Bring scattered material into one place.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2994294" y="2651760"/>
            <a:ext cx="1897014" cy="2286000"/>
          </a:xfrm>
          <a:prstGeom prst="rect">
            <a:avLst/>
          </a:prstGeom>
          <a:solidFill>
            <a:srgbClr val="F2EDE4"/>
          </a:solidFill>
          <a:ln w="12700">
            <a:solidFill>
              <a:srgbClr val="DAD5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77174" y="2852928"/>
            <a:ext cx="189701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 spc="100">
                <a:solidFill>
                  <a:srgbClr val="A56C49"/>
                </a:solidFill>
                <a:latin typeface="Menlo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77174" y="3255264"/>
            <a:ext cx="162269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251F1B"/>
                </a:solidFill>
                <a:latin typeface="Georgia"/>
              </a:rPr>
              <a:t>Resolve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7174" y="3730752"/>
            <a:ext cx="158611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24C47"/>
                </a:solidFill>
                <a:latin typeface="Helvetica Neue"/>
              </a:rPr>
              <a:t>Turn a question into a defensible answer.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47340" y="2651760"/>
            <a:ext cx="1897014" cy="2286000"/>
          </a:xfrm>
          <a:prstGeom prst="rect">
            <a:avLst/>
          </a:prstGeom>
          <a:solidFill>
            <a:srgbClr val="F2EDE4"/>
          </a:solidFill>
          <a:ln w="12700">
            <a:solidFill>
              <a:srgbClr val="DAD5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30220" y="2852928"/>
            <a:ext cx="189701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 spc="100">
                <a:solidFill>
                  <a:srgbClr val="A56C49"/>
                </a:solidFill>
                <a:latin typeface="Menlo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0220" y="3255264"/>
            <a:ext cx="162269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251F1B"/>
                </a:solidFill>
                <a:latin typeface="Georgia"/>
              </a:rPr>
              <a:t>Frame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0220" y="3730752"/>
            <a:ext cx="158611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24C47"/>
                </a:solidFill>
                <a:latin typeface="Helvetica Neue"/>
              </a:rPr>
              <a:t>Shape understanding others can use.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00386" y="2651760"/>
            <a:ext cx="1897014" cy="2286000"/>
          </a:xfrm>
          <a:prstGeom prst="rect">
            <a:avLst/>
          </a:prstGeom>
          <a:solidFill>
            <a:srgbClr val="F2EDE4"/>
          </a:solidFill>
          <a:ln w="12700">
            <a:solidFill>
              <a:srgbClr val="DAD5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83266" y="2852928"/>
            <a:ext cx="189701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 spc="100">
                <a:solidFill>
                  <a:srgbClr val="A56C49"/>
                </a:solidFill>
                <a:latin typeface="Menlo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83266" y="3255264"/>
            <a:ext cx="162269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251F1B"/>
                </a:solidFill>
                <a:latin typeface="Georgia"/>
              </a:rPr>
              <a:t>Measure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83266" y="3730752"/>
            <a:ext cx="158611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24C47"/>
                </a:solidFill>
                <a:latin typeface="Helvetica Neue"/>
              </a:rPr>
              <a:t>Check it's clear and ready to move people.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53432" y="2651760"/>
            <a:ext cx="1897014" cy="2286000"/>
          </a:xfrm>
          <a:prstGeom prst="rect">
            <a:avLst/>
          </a:prstGeom>
          <a:solidFill>
            <a:srgbClr val="F2EDE4"/>
          </a:solidFill>
          <a:ln w="12700">
            <a:solidFill>
              <a:srgbClr val="DAD5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36312" y="2852928"/>
            <a:ext cx="189701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 spc="100">
                <a:solidFill>
                  <a:srgbClr val="A56C49"/>
                </a:solidFill>
                <a:latin typeface="Menlo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36312" y="3255264"/>
            <a:ext cx="162269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251F1B"/>
                </a:solidFill>
                <a:latin typeface="Georgia"/>
              </a:rPr>
              <a:t>Remember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36312" y="3730752"/>
            <a:ext cx="158611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24C47"/>
                </a:solidFill>
                <a:latin typeface="Helvetica Neue"/>
              </a:rPr>
              <a:t>Hold on to what mattered, and how it changed.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512064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 spc="60">
                <a:solidFill>
                  <a:srgbClr val="7F7974"/>
                </a:solidFill>
                <a:latin typeface="Menlo"/>
              </a:rPr>
              <a:t>↻  Remember feeds back into Capture — understanding compounds.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1248" y="6455664"/>
            <a:ext cx="10509199" cy="0"/>
          </a:xfrm>
          <a:prstGeom prst="bentConnector3">
            <a:avLst/>
          </a:prstGeom>
          <a:ln w="9525">
            <a:solidFill>
              <a:srgbClr val="C2BD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1248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200">
                <a:solidFill>
                  <a:srgbClr val="251F1B"/>
                </a:solidFill>
                <a:latin typeface="Menlo"/>
              </a:rPr>
              <a:t>ORIENT</a:t>
            </a:r>
            <a:r>
              <a:rPr sz="900" b="0" i="0" spc="120">
                <a:solidFill>
                  <a:srgbClr val="7F7974"/>
                </a:solidFill>
                <a:latin typeface="Menlo"/>
              </a:rPr>
              <a:t>  ·  meaning 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92847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20">
                <a:solidFill>
                  <a:srgbClr val="A56C49"/>
                </a:solidFill>
                <a:latin typeface="Menlo"/>
              </a:rPr>
              <a:t>07</a:t>
            </a:r>
            <a:r>
              <a:rPr sz="900" b="0" i="0" spc="120">
                <a:solidFill>
                  <a:srgbClr val="7F7974"/>
                </a:solidFill>
                <a:latin typeface="Menlo"/>
              </a:rPr>
              <a:t>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 spc="170">
                <a:solidFill>
                  <a:srgbClr val="A56C49"/>
                </a:solidFill>
                <a:latin typeface="Menlo"/>
              </a:rPr>
              <a:t>FOR HUMANS · 01 · CAPTURE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207008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0" i="0">
                <a:solidFill>
                  <a:srgbClr val="251F1B"/>
                </a:solidFill>
                <a:latin typeface="Georgia"/>
              </a:rPr>
              <a:t>Capture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057400"/>
            <a:ext cx="42976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524C47"/>
                </a:solidFill>
                <a:latin typeface="Helvetica Neue"/>
              </a:rPr>
              <a:t>Paste a link, upload a doc, drop a note or voice memo, pull from connected tools. Orient reads the material and extracts what matters — claims, evidence, contradictions, decisions and open questions. Capture isn't storage; it's the beginning of understanding.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343400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spc="140">
                <a:solidFill>
                  <a:srgbClr val="7F7974"/>
                </a:solidFill>
                <a:latin typeface="Menlo"/>
              </a:rPr>
              <a:t>DROP ANYTHING IN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4681728"/>
            <a:ext cx="681228" cy="365760"/>
          </a:xfrm>
          <a:prstGeom prst="rect">
            <a:avLst/>
          </a:prstGeom>
          <a:solidFill>
            <a:srgbClr val="F2EDE4"/>
          </a:solidFill>
          <a:ln w="12700">
            <a:solidFill>
              <a:srgbClr val="DAD5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4681728"/>
            <a:ext cx="68122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24C47"/>
                </a:solidFill>
                <a:latin typeface="Menlo"/>
              </a:rPr>
              <a:t>links</a:t>
            </a:r>
          </a:p>
        </p:txBody>
      </p:sp>
      <p:sp>
        <p:nvSpPr>
          <p:cNvPr id="9" name="Rectangle 8"/>
          <p:cNvSpPr/>
          <p:nvPr/>
        </p:nvSpPr>
        <p:spPr>
          <a:xfrm>
            <a:off x="1632204" y="4681728"/>
            <a:ext cx="992124" cy="365760"/>
          </a:xfrm>
          <a:prstGeom prst="rect">
            <a:avLst/>
          </a:prstGeom>
          <a:solidFill>
            <a:srgbClr val="F2EDE4"/>
          </a:solidFill>
          <a:ln w="12700">
            <a:solidFill>
              <a:srgbClr val="DAD5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32204" y="4681728"/>
            <a:ext cx="99212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24C47"/>
                </a:solidFill>
                <a:latin typeface="Menlo"/>
              </a:rPr>
              <a:t>documents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34056" y="4681728"/>
            <a:ext cx="681228" cy="365760"/>
          </a:xfrm>
          <a:prstGeom prst="rect">
            <a:avLst/>
          </a:prstGeom>
          <a:solidFill>
            <a:srgbClr val="F2EDE4"/>
          </a:solidFill>
          <a:ln w="12700">
            <a:solidFill>
              <a:srgbClr val="DAD5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34056" y="4681728"/>
            <a:ext cx="68122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24C47"/>
                </a:solidFill>
                <a:latin typeface="Menlo"/>
              </a:rPr>
              <a:t>notes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25012" y="4681728"/>
            <a:ext cx="681228" cy="365760"/>
          </a:xfrm>
          <a:prstGeom prst="rect">
            <a:avLst/>
          </a:prstGeom>
          <a:solidFill>
            <a:srgbClr val="F2EDE4"/>
          </a:solidFill>
          <a:ln w="12700">
            <a:solidFill>
              <a:srgbClr val="DAD5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5012" y="4681728"/>
            <a:ext cx="68122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24C47"/>
                </a:solidFill>
                <a:latin typeface="Menlo"/>
              </a:rPr>
              <a:t>voice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5968" y="4681728"/>
            <a:ext cx="525780" cy="365760"/>
          </a:xfrm>
          <a:prstGeom prst="rect">
            <a:avLst/>
          </a:prstGeom>
          <a:solidFill>
            <a:srgbClr val="F2EDE4"/>
          </a:solidFill>
          <a:ln w="12700">
            <a:solidFill>
              <a:srgbClr val="DAD5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15968" y="4681728"/>
            <a:ext cx="5257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24C47"/>
                </a:solidFill>
                <a:latin typeface="Menlo"/>
              </a:rPr>
              <a:t>web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" y="5157216"/>
            <a:ext cx="1147572" cy="365760"/>
          </a:xfrm>
          <a:prstGeom prst="rect">
            <a:avLst/>
          </a:prstGeom>
          <a:solidFill>
            <a:srgbClr val="F2EDE4"/>
          </a:solidFill>
          <a:ln w="12700">
            <a:solidFill>
              <a:srgbClr val="DAD5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157216"/>
            <a:ext cx="114757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24C47"/>
                </a:solidFill>
                <a:latin typeface="Menlo"/>
              </a:rPr>
              <a:t>transcripts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98548" y="5157216"/>
            <a:ext cx="681228" cy="365760"/>
          </a:xfrm>
          <a:prstGeom prst="rect">
            <a:avLst/>
          </a:prstGeom>
          <a:solidFill>
            <a:srgbClr val="F2EDE4"/>
          </a:solidFill>
          <a:ln w="12700">
            <a:solidFill>
              <a:srgbClr val="DAD5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98548" y="5157216"/>
            <a:ext cx="68122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24C47"/>
                </a:solidFill>
                <a:latin typeface="Menlo"/>
              </a:rPr>
              <a:t>media</a:t>
            </a:r>
          </a:p>
        </p:txBody>
      </p:sp>
      <p:pic>
        <p:nvPicPr>
          <p:cNvPr id="21" name="Picture 20" descr="screenshot-2-w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07008"/>
            <a:ext cx="5852160" cy="3363041"/>
          </a:xfrm>
          <a:prstGeom prst="rect">
            <a:avLst/>
          </a:prstGeom>
          <a:ln w="12700">
            <a:solidFill>
              <a:srgbClr val="C2BDB5"/>
            </a:solidFill>
          </a:ln>
          <a:effectLst/>
        </p:spPr>
      </p:pic>
      <p:cxnSp>
        <p:nvCxnSpPr>
          <p:cNvPr id="22" name="Connector 21"/>
          <p:cNvCxnSpPr/>
          <p:nvPr/>
        </p:nvCxnSpPr>
        <p:spPr>
          <a:xfrm>
            <a:off x="841248" y="6455664"/>
            <a:ext cx="10509199" cy="0"/>
          </a:xfrm>
          <a:prstGeom prst="bentConnector3">
            <a:avLst/>
          </a:prstGeom>
          <a:ln w="9525">
            <a:solidFill>
              <a:srgbClr val="C2BD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41248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200">
                <a:solidFill>
                  <a:srgbClr val="251F1B"/>
                </a:solidFill>
                <a:latin typeface="Menlo"/>
              </a:rPr>
              <a:t>ORIENT</a:t>
            </a:r>
            <a:r>
              <a:rPr sz="900" b="0" i="0" spc="120">
                <a:solidFill>
                  <a:srgbClr val="7F7974"/>
                </a:solidFill>
                <a:latin typeface="Menlo"/>
              </a:rPr>
              <a:t>  ·  meaning 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92847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20">
                <a:solidFill>
                  <a:srgbClr val="A56C49"/>
                </a:solidFill>
                <a:latin typeface="Menlo"/>
              </a:rPr>
              <a:t>08</a:t>
            </a:r>
            <a:r>
              <a:rPr sz="900" b="0" i="0" spc="120">
                <a:solidFill>
                  <a:srgbClr val="7F7974"/>
                </a:solidFill>
                <a:latin typeface="Menlo"/>
              </a:rPr>
              <a:t>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 spc="170">
                <a:solidFill>
                  <a:srgbClr val="A56C49"/>
                </a:solidFill>
                <a:latin typeface="Menlo"/>
              </a:rPr>
              <a:t>FOR HUMANS · 02 · RESOLVE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207008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0" i="0">
                <a:solidFill>
                  <a:srgbClr val="251F1B"/>
                </a:solidFill>
                <a:latin typeface="Georgia"/>
              </a:rPr>
              <a:t>Resolve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057400"/>
            <a:ext cx="42976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524C47"/>
                </a:solidFill>
                <a:latin typeface="Helvetica Neue"/>
              </a:rPr>
              <a:t>Where a real question becomes a defensible answer. Orient works through the sources, drafts an answer, and shows what holds up — a live boundary between knowledge and uncertainty, not just a summary.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343400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spc="140">
                <a:solidFill>
                  <a:srgbClr val="7F7974"/>
                </a:solidFill>
                <a:latin typeface="Menlo"/>
              </a:rPr>
              <a:t>IT SEPARATES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4681728"/>
            <a:ext cx="914400" cy="365760"/>
          </a:xfrm>
          <a:prstGeom prst="rect">
            <a:avLst/>
          </a:prstGeom>
          <a:solidFill>
            <a:srgbClr val="F2EDE4"/>
          </a:solidFill>
          <a:ln w="12700">
            <a:solidFill>
              <a:srgbClr val="DAD5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4681728"/>
            <a:ext cx="914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24C47"/>
                </a:solidFill>
                <a:latin typeface="Menlo"/>
              </a:rPr>
              <a:t>resolved</a:t>
            </a:r>
          </a:p>
        </p:txBody>
      </p:sp>
      <p:sp>
        <p:nvSpPr>
          <p:cNvPr id="9" name="Rectangle 8"/>
          <p:cNvSpPr/>
          <p:nvPr/>
        </p:nvSpPr>
        <p:spPr>
          <a:xfrm>
            <a:off x="1865376" y="4681728"/>
            <a:ext cx="1147572" cy="365760"/>
          </a:xfrm>
          <a:prstGeom prst="rect">
            <a:avLst/>
          </a:prstGeom>
          <a:solidFill>
            <a:srgbClr val="F2EDE4"/>
          </a:solidFill>
          <a:ln w="12700">
            <a:solidFill>
              <a:srgbClr val="DAD5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65376" y="4681728"/>
            <a:ext cx="114757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24C47"/>
                </a:solidFill>
                <a:latin typeface="Menlo"/>
              </a:rPr>
              <a:t>open probes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22676" y="4681728"/>
            <a:ext cx="603504" cy="365760"/>
          </a:xfrm>
          <a:prstGeom prst="rect">
            <a:avLst/>
          </a:prstGeom>
          <a:solidFill>
            <a:srgbClr val="F2EDE4"/>
          </a:solidFill>
          <a:ln w="12700">
            <a:solidFill>
              <a:srgbClr val="DAD5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22676" y="4681728"/>
            <a:ext cx="60350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24C47"/>
                </a:solidFill>
                <a:latin typeface="Menlo"/>
              </a:rPr>
              <a:t>weak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35908" y="4681728"/>
            <a:ext cx="992124" cy="365760"/>
          </a:xfrm>
          <a:prstGeom prst="rect">
            <a:avLst/>
          </a:prstGeom>
          <a:solidFill>
            <a:srgbClr val="F2EDE4"/>
          </a:solidFill>
          <a:ln w="12700">
            <a:solidFill>
              <a:srgbClr val="DAD5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35908" y="4681728"/>
            <a:ext cx="99212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24C47"/>
                </a:solidFill>
                <a:latin typeface="Menlo"/>
              </a:rPr>
              <a:t>contested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5157216"/>
            <a:ext cx="681228" cy="365760"/>
          </a:xfrm>
          <a:prstGeom prst="rect">
            <a:avLst/>
          </a:prstGeom>
          <a:solidFill>
            <a:srgbClr val="F2EDE4"/>
          </a:solidFill>
          <a:ln w="12700">
            <a:solidFill>
              <a:srgbClr val="DAD5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5157216"/>
            <a:ext cx="68122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24C47"/>
                </a:solidFill>
                <a:latin typeface="Menlo"/>
              </a:rPr>
              <a:t>stale</a:t>
            </a:r>
          </a:p>
        </p:txBody>
      </p:sp>
      <p:pic>
        <p:nvPicPr>
          <p:cNvPr id="17" name="Picture 16" descr="screenshot-3-w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07008"/>
            <a:ext cx="5852160" cy="3503493"/>
          </a:xfrm>
          <a:prstGeom prst="rect">
            <a:avLst/>
          </a:prstGeom>
          <a:ln w="12700">
            <a:solidFill>
              <a:srgbClr val="C2BDB5"/>
            </a:solidFill>
          </a:ln>
          <a:effectLst/>
        </p:spPr>
      </p:pic>
      <p:cxnSp>
        <p:nvCxnSpPr>
          <p:cNvPr id="18" name="Connector 17"/>
          <p:cNvCxnSpPr/>
          <p:nvPr/>
        </p:nvCxnSpPr>
        <p:spPr>
          <a:xfrm>
            <a:off x="841248" y="6455664"/>
            <a:ext cx="10509199" cy="0"/>
          </a:xfrm>
          <a:prstGeom prst="bentConnector3">
            <a:avLst/>
          </a:prstGeom>
          <a:ln w="9525">
            <a:solidFill>
              <a:srgbClr val="C2BD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41248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200">
                <a:solidFill>
                  <a:srgbClr val="251F1B"/>
                </a:solidFill>
                <a:latin typeface="Menlo"/>
              </a:rPr>
              <a:t>ORIENT</a:t>
            </a:r>
            <a:r>
              <a:rPr sz="900" b="0" i="0" spc="120">
                <a:solidFill>
                  <a:srgbClr val="7F7974"/>
                </a:solidFill>
                <a:latin typeface="Menlo"/>
              </a:rPr>
              <a:t>  ·  meaning 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2847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20">
                <a:solidFill>
                  <a:srgbClr val="A56C49"/>
                </a:solidFill>
                <a:latin typeface="Menlo"/>
              </a:rPr>
              <a:t>09</a:t>
            </a:r>
            <a:r>
              <a:rPr sz="900" b="0" i="0" spc="120">
                <a:solidFill>
                  <a:srgbClr val="7F7974"/>
                </a:solidFill>
                <a:latin typeface="Menlo"/>
              </a:rPr>
              <a:t>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 spc="170">
                <a:solidFill>
                  <a:srgbClr val="A56C49"/>
                </a:solidFill>
                <a:latin typeface="Menlo"/>
              </a:rPr>
              <a:t>FOR HUMANS · 03 · FRAME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207008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0" i="0">
                <a:solidFill>
                  <a:srgbClr val="251F1B"/>
                </a:solidFill>
                <a:latin typeface="Georgia"/>
              </a:rPr>
              <a:t>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057400"/>
            <a:ext cx="42976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524C47"/>
                </a:solidFill>
                <a:latin typeface="Helvetica Neue"/>
              </a:rPr>
              <a:t>Once a question is resolved, Orient shapes it into something others can use — and carries the evidence with the message, so communication stays connected to meaning instead of becoming polished drift.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343400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spc="140">
                <a:solidFill>
                  <a:srgbClr val="7F7974"/>
                </a:solidFill>
                <a:latin typeface="Menlo"/>
              </a:rPr>
              <a:t>A RESOLVED ANSWER BECOMES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4681728"/>
            <a:ext cx="758952" cy="365760"/>
          </a:xfrm>
          <a:prstGeom prst="rect">
            <a:avLst/>
          </a:prstGeom>
          <a:solidFill>
            <a:srgbClr val="F2EDE4"/>
          </a:solidFill>
          <a:ln w="12700">
            <a:solidFill>
              <a:srgbClr val="DAD5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4681728"/>
            <a:ext cx="7589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24C47"/>
                </a:solidFill>
                <a:latin typeface="Menlo"/>
              </a:rPr>
              <a:t>a deck</a:t>
            </a:r>
          </a:p>
        </p:txBody>
      </p:sp>
      <p:sp>
        <p:nvSpPr>
          <p:cNvPr id="9" name="Rectangle 8"/>
          <p:cNvSpPr/>
          <p:nvPr/>
        </p:nvSpPr>
        <p:spPr>
          <a:xfrm>
            <a:off x="1709928" y="4681728"/>
            <a:ext cx="758952" cy="365760"/>
          </a:xfrm>
          <a:prstGeom prst="rect">
            <a:avLst/>
          </a:prstGeom>
          <a:solidFill>
            <a:srgbClr val="F2EDE4"/>
          </a:solidFill>
          <a:ln w="12700">
            <a:solidFill>
              <a:srgbClr val="DAD5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09928" y="4681728"/>
            <a:ext cx="7589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24C47"/>
                </a:solidFill>
                <a:latin typeface="Menlo"/>
              </a:rPr>
              <a:t>a memo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78608" y="4681728"/>
            <a:ext cx="1069848" cy="365760"/>
          </a:xfrm>
          <a:prstGeom prst="rect">
            <a:avLst/>
          </a:prstGeom>
          <a:solidFill>
            <a:srgbClr val="F2EDE4"/>
          </a:solidFill>
          <a:ln w="12700">
            <a:solidFill>
              <a:srgbClr val="DAD5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78608" y="4681728"/>
            <a:ext cx="10698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24C47"/>
                </a:solidFill>
                <a:latin typeface="Menlo"/>
              </a:rPr>
              <a:t>an article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58184" y="4681728"/>
            <a:ext cx="1069848" cy="365760"/>
          </a:xfrm>
          <a:prstGeom prst="rect">
            <a:avLst/>
          </a:prstGeom>
          <a:solidFill>
            <a:srgbClr val="F2EDE4"/>
          </a:solidFill>
          <a:ln w="12700">
            <a:solidFill>
              <a:srgbClr val="DAD5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58184" y="4681728"/>
            <a:ext cx="10698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24C47"/>
                </a:solidFill>
                <a:latin typeface="Menlo"/>
              </a:rPr>
              <a:t>a briefing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5157216"/>
            <a:ext cx="1147572" cy="365760"/>
          </a:xfrm>
          <a:prstGeom prst="rect">
            <a:avLst/>
          </a:prstGeom>
          <a:solidFill>
            <a:srgbClr val="F2EDE4"/>
          </a:solidFill>
          <a:ln w="12700">
            <a:solidFill>
              <a:srgbClr val="DAD5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5157216"/>
            <a:ext cx="114757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24C47"/>
                </a:solidFill>
                <a:latin typeface="Menlo"/>
              </a:rPr>
              <a:t>a narrative</a:t>
            </a:r>
          </a:p>
        </p:txBody>
      </p:sp>
      <p:pic>
        <p:nvPicPr>
          <p:cNvPr id="17" name="Picture 16" descr="screenshot-4-w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07008"/>
            <a:ext cx="5852160" cy="3663452"/>
          </a:xfrm>
          <a:prstGeom prst="rect">
            <a:avLst/>
          </a:prstGeom>
          <a:ln w="12700">
            <a:solidFill>
              <a:srgbClr val="C2BDB5"/>
            </a:solidFill>
          </a:ln>
          <a:effectLst/>
        </p:spPr>
      </p:pic>
      <p:cxnSp>
        <p:nvCxnSpPr>
          <p:cNvPr id="18" name="Connector 17"/>
          <p:cNvCxnSpPr/>
          <p:nvPr/>
        </p:nvCxnSpPr>
        <p:spPr>
          <a:xfrm>
            <a:off x="841248" y="6455664"/>
            <a:ext cx="10509199" cy="0"/>
          </a:xfrm>
          <a:prstGeom prst="bentConnector3">
            <a:avLst/>
          </a:prstGeom>
          <a:ln w="9525">
            <a:solidFill>
              <a:srgbClr val="C2BD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41248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200">
                <a:solidFill>
                  <a:srgbClr val="251F1B"/>
                </a:solidFill>
                <a:latin typeface="Menlo"/>
              </a:rPr>
              <a:t>ORIENT</a:t>
            </a:r>
            <a:r>
              <a:rPr sz="900" b="0" i="0" spc="120">
                <a:solidFill>
                  <a:srgbClr val="7F7974"/>
                </a:solidFill>
                <a:latin typeface="Menlo"/>
              </a:rPr>
              <a:t>  ·  meaning 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2847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20">
                <a:solidFill>
                  <a:srgbClr val="A56C49"/>
                </a:solidFill>
                <a:latin typeface="Menlo"/>
              </a:rPr>
              <a:t>10</a:t>
            </a:r>
            <a:r>
              <a:rPr sz="900" b="0" i="0" spc="120">
                <a:solidFill>
                  <a:srgbClr val="7F7974"/>
                </a:solidFill>
                <a:latin typeface="Menlo"/>
              </a:rPr>
              <a:t>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 spc="170">
                <a:solidFill>
                  <a:srgbClr val="A56C49"/>
                </a:solidFill>
                <a:latin typeface="Menlo"/>
              </a:rPr>
              <a:t>FOR HUMANS · EVALUATION &amp;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280160"/>
            <a:ext cx="104241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251F1B"/>
                </a:solidFill>
                <a:latin typeface="Georgia"/>
              </a:rPr>
              <a:t>A Meaning Health Score — before it ships,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251F1B"/>
                </a:solidFill>
                <a:latin typeface="Georgia"/>
              </a:rPr>
              <a:t>and after it lands.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3200400"/>
            <a:ext cx="5048859" cy="2468880"/>
          </a:xfrm>
          <a:prstGeom prst="rect">
            <a:avLst/>
          </a:prstGeom>
          <a:solidFill>
            <a:srgbClr val="F2EDE4"/>
          </a:solidFill>
          <a:ln w="12700">
            <a:solidFill>
              <a:srgbClr val="DAD5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2144" y="3474720"/>
            <a:ext cx="44270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spc="150">
                <a:solidFill>
                  <a:srgbClr val="A56C49"/>
                </a:solidFill>
                <a:latin typeface="Menlo"/>
              </a:rPr>
              <a:t>04 · MEASURE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52144.0" y="3877056"/>
            <a:ext cx="4427067.5" cy="0"/>
          </a:xfrm>
          <a:prstGeom prst="bentConnector3">
            <a:avLst/>
          </a:prstGeom>
          <a:ln w="9525">
            <a:solidFill>
              <a:srgbClr val="C2BD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152144" y="4069080"/>
            <a:ext cx="4427067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524C47"/>
                </a:solidFill>
                <a:latin typeface="Helvetica Neue"/>
              </a:rPr>
              <a:t>Orient reads the work like a sharp editor: clarity,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524C47"/>
                </a:solidFill>
                <a:latin typeface="Helvetica Neue"/>
              </a:rPr>
              <a:t>evidence, coherence, audience fit. A score on whether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524C47"/>
                </a:solidFill>
                <a:latin typeface="Helvetica Neue"/>
              </a:rPr>
              <a:t>the meaning is strong enough to move a decision —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524C47"/>
                </a:solidFill>
                <a:latin typeface="Helvetica Neue"/>
              </a:rPr>
              <a:t>not a vanity grade.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1587" y="3200400"/>
            <a:ext cx="5048859" cy="2468880"/>
          </a:xfrm>
          <a:prstGeom prst="rect">
            <a:avLst/>
          </a:prstGeom>
          <a:solidFill>
            <a:srgbClr val="F2EDE4"/>
          </a:solidFill>
          <a:ln w="12700">
            <a:solidFill>
              <a:srgbClr val="DAD5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12483" y="3474720"/>
            <a:ext cx="44270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spc="150">
                <a:solidFill>
                  <a:srgbClr val="A56C49"/>
                </a:solidFill>
                <a:latin typeface="Menlo"/>
              </a:rPr>
              <a:t>06 · IMPACT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612483.5" y="3877056"/>
            <a:ext cx="4427067.5" cy="0"/>
          </a:xfrm>
          <a:prstGeom prst="bentConnector3">
            <a:avLst/>
          </a:prstGeom>
          <a:ln w="9525">
            <a:solidFill>
              <a:srgbClr val="C2BD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612483" y="4069080"/>
            <a:ext cx="4427067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524C47"/>
                </a:solidFill>
                <a:latin typeface="Helvetica Neue"/>
              </a:rPr>
              <a:t>After it ships, Orient follows it into the world: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524C47"/>
                </a:solidFill>
                <a:latin typeface="Helvetica Neue"/>
              </a:rPr>
              <a:t>comprehension, reach, clarity, speed — and where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524C47"/>
                </a:solidFill>
                <a:latin typeface="Helvetica Neue"/>
              </a:rPr>
              <a:t>the meaning frayed. Know whether the idea landed,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524C47"/>
                </a:solidFill>
                <a:latin typeface="Helvetica Neue"/>
              </a:rPr>
              <a:t>not just whether it was sent.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41248" y="6455664"/>
            <a:ext cx="10509199" cy="0"/>
          </a:xfrm>
          <a:prstGeom prst="bentConnector3">
            <a:avLst/>
          </a:prstGeom>
          <a:ln w="9525">
            <a:solidFill>
              <a:srgbClr val="C2BD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41248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200">
                <a:solidFill>
                  <a:srgbClr val="251F1B"/>
                </a:solidFill>
                <a:latin typeface="Menlo"/>
              </a:rPr>
              <a:t>ORIENT</a:t>
            </a:r>
            <a:r>
              <a:rPr sz="900" b="0" i="0" spc="120">
                <a:solidFill>
                  <a:srgbClr val="7F7974"/>
                </a:solidFill>
                <a:latin typeface="Menlo"/>
              </a:rPr>
              <a:t>  ·  meaning 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2847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20">
                <a:solidFill>
                  <a:srgbClr val="A56C49"/>
                </a:solidFill>
                <a:latin typeface="Menlo"/>
              </a:rPr>
              <a:t>11</a:t>
            </a:r>
            <a:r>
              <a:rPr sz="900" b="0" i="0" spc="120">
                <a:solidFill>
                  <a:srgbClr val="7F7974"/>
                </a:solidFill>
                <a:latin typeface="Menlo"/>
              </a:rPr>
              <a:t>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 spc="170">
                <a:solidFill>
                  <a:srgbClr val="7C95B1"/>
                </a:solidFill>
                <a:latin typeface="Menlo"/>
              </a:rPr>
              <a:t>FOR MACHINES · THE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207008"/>
            <a:ext cx="65836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F2EEE7"/>
                </a:solidFill>
                <a:latin typeface="Georgia"/>
              </a:rPr>
              <a:t>Five things every agent can ask of Orient.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331720"/>
            <a:ext cx="5486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7C95B1"/>
                </a:solidFill>
                <a:latin typeface="Menlo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81328" y="2331720"/>
            <a:ext cx="21945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F2EEE7"/>
                </a:solidFill>
                <a:latin typeface="Georgia"/>
              </a:rPr>
              <a:t>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84448" y="2331720"/>
            <a:ext cx="35204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6918C"/>
                </a:solidFill>
                <a:latin typeface="Helvetica Neue"/>
              </a:rPr>
              <a:t>The right working memory — question, current answer, claims, weak spots.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099816"/>
            <a:ext cx="5486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7C95B1"/>
                </a:solidFill>
                <a:latin typeface="Menlo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3099816"/>
            <a:ext cx="21945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F2EEE7"/>
                </a:solidFill>
                <a:latin typeface="Georgia"/>
              </a:rPr>
              <a:t>Grounding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84448" y="3099816"/>
            <a:ext cx="35204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6918C"/>
                </a:solidFill>
                <a:latin typeface="Helvetica Neue"/>
              </a:rPr>
              <a:t>Every claim tied to support, contradiction, provenance and freshness.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867912"/>
            <a:ext cx="5486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7C95B1"/>
                </a:solidFill>
                <a:latin typeface="Menlo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3867912"/>
            <a:ext cx="21945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F2EEE7"/>
                </a:solidFill>
                <a:latin typeface="Georgia"/>
              </a:rPr>
              <a:t>Policy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4448" y="3867912"/>
            <a:ext cx="35204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6918C"/>
                </a:solidFill>
                <a:latin typeface="Helvetica Neue"/>
              </a:rPr>
              <a:t>Durable rules — tone, lexical contracts, taboo phrases, accepted risks.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4636008"/>
            <a:ext cx="5486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7C95B1"/>
                </a:solidFill>
                <a:latin typeface="Menlo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4636008"/>
            <a:ext cx="21945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F2EEE7"/>
                </a:solidFill>
                <a:latin typeface="Georgia"/>
              </a:rPr>
              <a:t>Task Framing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4636008"/>
            <a:ext cx="35204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6918C"/>
                </a:solidFill>
                <a:latin typeface="Helvetica Neue"/>
              </a:rPr>
              <a:t>A request turned into outcome, audience, evidence standard, risk.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5404104"/>
            <a:ext cx="5486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7C95B1"/>
                </a:solidFill>
                <a:latin typeface="Menlo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5404104"/>
            <a:ext cx="21945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F2EEE7"/>
                </a:solidFill>
                <a:latin typeface="Georgia"/>
              </a:rPr>
              <a:t>Evaluation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84448" y="5404104"/>
            <a:ext cx="35204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6918C"/>
                </a:solidFill>
                <a:latin typeface="Helvetica Neue"/>
              </a:rPr>
              <a:t>Did output stay faithful to source, intent and the lexical contract?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35240" y="2286000"/>
            <a:ext cx="3703320" cy="3291840"/>
          </a:xfrm>
          <a:prstGeom prst="rect">
            <a:avLst/>
          </a:prstGeom>
          <a:solidFill>
            <a:srgbClr val="29231E"/>
          </a:solidFill>
          <a:ln w="9525">
            <a:solidFill>
              <a:srgbClr val="7F79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09560" y="2505456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96918C"/>
                </a:solidFill>
                <a:latin typeface="Menlo"/>
              </a:rPr>
              <a:t>// what an agent gets 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2926080"/>
            <a:ext cx="329184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F2EEE7"/>
                </a:solidFill>
                <a:latin typeface="Menlo"/>
              </a:rPr>
              <a:t>context </a:t>
            </a:r>
            <a:r>
              <a:rPr sz="1150" b="0" i="0">
                <a:solidFill>
                  <a:srgbClr val="7C95B1"/>
                </a:solidFill>
                <a:latin typeface="Menlo"/>
              </a:rPr>
              <a:t>= </a:t>
            </a:r>
            <a:r>
              <a:rPr sz="1150" b="0" i="0">
                <a:solidFill>
                  <a:srgbClr val="A56C49"/>
                </a:solidFill>
                <a:latin typeface="Menlo"/>
              </a:rPr>
              <a:t>assembleMeaningContext(…)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51F1B"/>
                </a:solidFill>
                <a:latin typeface="Menlo"/>
              </a:rPr>
              <a:t/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96918C"/>
                </a:solidFill>
                <a:latin typeface="Menlo"/>
              </a:rPr>
              <a:t>current_answer   → </a:t>
            </a:r>
            <a:r>
              <a:rPr sz="1150" b="0" i="0">
                <a:solidFill>
                  <a:srgbClr val="F2EEE7"/>
                </a:solidFill>
                <a:latin typeface="Menlo"/>
              </a:rPr>
              <a:t>"enterprise-first"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96918C"/>
                </a:solidFill>
                <a:latin typeface="Menlo"/>
              </a:rPr>
              <a:t>grounding_status → </a:t>
            </a:r>
            <a:r>
              <a:rPr sz="1150" b="0" i="0">
                <a:solidFill>
                  <a:srgbClr val="F2EEE7"/>
                </a:solidFill>
                <a:latin typeface="Menlo"/>
              </a:rPr>
              <a:t>"resolved"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96918C"/>
                </a:solidFill>
                <a:latin typeface="Menlo"/>
              </a:rPr>
              <a:t>weak_spots       → </a:t>
            </a:r>
            <a:r>
              <a:rPr sz="1150" b="0" i="0">
                <a:solidFill>
                  <a:srgbClr val="F2EEE7"/>
                </a:solidFill>
                <a:latin typeface="Menlo"/>
              </a:rPr>
              <a:t>["pricing ageing"]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96918C"/>
                </a:solidFill>
                <a:latin typeface="Menlo"/>
              </a:rPr>
              <a:t>must_not_claim   → </a:t>
            </a:r>
            <a:r>
              <a:rPr sz="1150" b="0" i="0">
                <a:solidFill>
                  <a:srgbClr val="F2EEE7"/>
                </a:solidFill>
                <a:latin typeface="Menlo"/>
              </a:rPr>
              <a:t>["compliance"]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96918C"/>
                </a:solidFill>
                <a:latin typeface="Menlo"/>
              </a:rPr>
              <a:t>safe_to_act      → </a:t>
            </a:r>
            <a:r>
              <a:rPr sz="1150" b="0" i="0">
                <a:solidFill>
                  <a:srgbClr val="7C95B1"/>
                </a:solidFill>
                <a:latin typeface="Menlo"/>
              </a:rPr>
              <a:t>true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41248" y="6455664"/>
            <a:ext cx="10509199" cy="0"/>
          </a:xfrm>
          <a:prstGeom prst="bentConnector3">
            <a:avLst/>
          </a:prstGeom>
          <a:ln w="9525">
            <a:solidFill>
              <a:srgbClr val="29231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41248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200">
                <a:solidFill>
                  <a:srgbClr val="F2EEE7"/>
                </a:solidFill>
                <a:latin typeface="Menlo"/>
              </a:rPr>
              <a:t>ORIENT</a:t>
            </a:r>
            <a:r>
              <a:rPr sz="900" b="0" i="0" spc="120">
                <a:solidFill>
                  <a:srgbClr val="96918C"/>
                </a:solidFill>
                <a:latin typeface="Menlo"/>
              </a:rPr>
              <a:t>  ·  meaning 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2847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20">
                <a:solidFill>
                  <a:srgbClr val="54769C"/>
                </a:solidFill>
                <a:latin typeface="Menlo"/>
              </a:rPr>
              <a:t>12</a:t>
            </a:r>
            <a:r>
              <a:rPr sz="900" b="0" i="0" spc="120">
                <a:solidFill>
                  <a:srgbClr val="96918C"/>
                </a:solidFill>
                <a:latin typeface="Menlo"/>
              </a:rPr>
              <a:t>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 spc="170">
                <a:solidFill>
                  <a:srgbClr val="7C95B1"/>
                </a:solidFill>
                <a:latin typeface="Menlo"/>
              </a:rPr>
              <a:t>FOR MACHINES · THE KILLER SURFACE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207008"/>
            <a:ext cx="104241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F2EEE7"/>
                </a:solidFill>
                <a:latin typeface="Georgia"/>
              </a:rPr>
              <a:t>Resolver — company uncertainty as an agent work-queue.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057400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96918C"/>
                </a:solidFill>
                <a:latin typeface="Helvetica Neue"/>
              </a:rPr>
              <a:t>Not a knowledge base — a live state of inquiry. What's known, decided, still open, too weak to claim, and when to ask a human.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2971800"/>
            <a:ext cx="2421559" cy="2788920"/>
          </a:xfrm>
          <a:prstGeom prst="rect">
            <a:avLst/>
          </a:prstGeom>
          <a:solidFill>
            <a:srgbClr val="29231E"/>
          </a:solidFill>
          <a:ln w="9525">
            <a:solidFill>
              <a:srgbClr val="7F79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2971800"/>
            <a:ext cx="2421559" cy="82296"/>
          </a:xfrm>
          <a:prstGeom prst="rect">
            <a:avLst/>
          </a:prstGeom>
          <a:solidFill>
            <a:srgbClr val="7C9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6" y="3227832"/>
            <a:ext cx="24215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F2EEE7"/>
                </a:solidFill>
                <a:latin typeface="Georgia"/>
              </a:rPr>
              <a:t>Resolved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" y="3630168"/>
            <a:ext cx="24215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00">
                <a:solidFill>
                  <a:srgbClr val="7C95B1"/>
                </a:solidFill>
                <a:latin typeface="Menlo"/>
              </a:rPr>
              <a:t>SAFE TO USE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2416" y="4032504"/>
            <a:ext cx="2019223" cy="566928"/>
          </a:xfrm>
          <a:prstGeom prst="rect">
            <a:avLst/>
          </a:prstGeom>
          <a:solidFill>
            <a:srgbClr val="251F1B"/>
          </a:solidFill>
          <a:ln w="6350">
            <a:solidFill>
              <a:srgbClr val="7F79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2144" y="4032504"/>
            <a:ext cx="181805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F2EEE7"/>
                </a:solidFill>
                <a:latin typeface="Helvetica Neue"/>
              </a:rPr>
              <a:t>Enterprise-first, regulated verticals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2416" y="4690872"/>
            <a:ext cx="2019223" cy="566928"/>
          </a:xfrm>
          <a:prstGeom prst="rect">
            <a:avLst/>
          </a:prstGeom>
          <a:solidFill>
            <a:srgbClr val="251F1B"/>
          </a:solidFill>
          <a:ln w="6350">
            <a:solidFill>
              <a:srgbClr val="7F79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52144" y="4690872"/>
            <a:ext cx="181805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F2EEE7"/>
                </a:solidFill>
                <a:latin typeface="Helvetica Neue"/>
              </a:rPr>
              <a:t>Positioning: “meaning layer”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37127" y="2971800"/>
            <a:ext cx="2421559" cy="2788920"/>
          </a:xfrm>
          <a:prstGeom prst="rect">
            <a:avLst/>
          </a:prstGeom>
          <a:solidFill>
            <a:srgbClr val="29231E"/>
          </a:solidFill>
          <a:ln w="9525">
            <a:solidFill>
              <a:srgbClr val="7F79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7127" y="2971800"/>
            <a:ext cx="2421559" cy="82296"/>
          </a:xfrm>
          <a:prstGeom prst="rect">
            <a:avLst/>
          </a:prstGeom>
          <a:solidFill>
            <a:srgbClr val="A56C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8295" y="3227832"/>
            <a:ext cx="24215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F2EEE7"/>
                </a:solidFill>
                <a:latin typeface="Georgia"/>
              </a:rPr>
              <a:t>Open probes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8295" y="3630168"/>
            <a:ext cx="24215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00">
                <a:solidFill>
                  <a:srgbClr val="A56C49"/>
                </a:solidFill>
                <a:latin typeface="Menlo"/>
              </a:rPr>
              <a:t>THE WORK QUEUE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38295" y="4032504"/>
            <a:ext cx="2019223" cy="566928"/>
          </a:xfrm>
          <a:prstGeom prst="rect">
            <a:avLst/>
          </a:prstGeom>
          <a:solidFill>
            <a:srgbClr val="251F1B"/>
          </a:solidFill>
          <a:ln w="6350">
            <a:solidFill>
              <a:srgbClr val="7F79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8023" y="4032504"/>
            <a:ext cx="181805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F2EEE7"/>
                </a:solidFill>
                <a:latin typeface="Helvetica Neue"/>
              </a:rPr>
              <a:t>Mid-market willingness to pay?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38295" y="4690872"/>
            <a:ext cx="2019223" cy="566928"/>
          </a:xfrm>
          <a:prstGeom prst="rect">
            <a:avLst/>
          </a:prstGeom>
          <a:solidFill>
            <a:srgbClr val="251F1B"/>
          </a:solidFill>
          <a:ln w="6350">
            <a:solidFill>
              <a:srgbClr val="7F79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8023" y="4690872"/>
            <a:ext cx="181805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F2EEE7"/>
                </a:solidFill>
                <a:latin typeface="Helvetica Neue"/>
              </a:rPr>
              <a:t>Demand from compliance teams?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2971800"/>
            <a:ext cx="2421559" cy="2788920"/>
          </a:xfrm>
          <a:prstGeom prst="rect">
            <a:avLst/>
          </a:prstGeom>
          <a:solidFill>
            <a:srgbClr val="29231E"/>
          </a:solidFill>
          <a:ln w="9525">
            <a:solidFill>
              <a:srgbClr val="7F79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3007" y="2971800"/>
            <a:ext cx="2421559" cy="82296"/>
          </a:xfrm>
          <a:prstGeom prst="rect">
            <a:avLst/>
          </a:prstGeom>
          <a:solidFill>
            <a:srgbClr val="C8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34175" y="3227832"/>
            <a:ext cx="24215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F2EEE7"/>
                </a:solidFill>
                <a:latin typeface="Georgia"/>
              </a:rPr>
              <a:t>Contested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4175" y="3630168"/>
            <a:ext cx="24215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00">
                <a:solidFill>
                  <a:srgbClr val="C87A4A"/>
                </a:solidFill>
                <a:latin typeface="Menlo"/>
              </a:rPr>
              <a:t>ESCALATE TO A HUMAN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34175" y="4032504"/>
            <a:ext cx="2019223" cy="566928"/>
          </a:xfrm>
          <a:prstGeom prst="rect">
            <a:avLst/>
          </a:prstGeom>
          <a:solidFill>
            <a:srgbClr val="251F1B"/>
          </a:solidFill>
          <a:ln w="6350">
            <a:solidFill>
              <a:srgbClr val="7F79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43903" y="4032504"/>
            <a:ext cx="181805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F2EEE7"/>
                </a:solidFill>
                <a:latin typeface="Helvetica Neue"/>
              </a:rPr>
              <a:t>Team comprehension analytics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34175" y="4690872"/>
            <a:ext cx="2019223" cy="566928"/>
          </a:xfrm>
          <a:prstGeom prst="rect">
            <a:avLst/>
          </a:prstGeom>
          <a:solidFill>
            <a:srgbClr val="251F1B"/>
          </a:solidFill>
          <a:ln w="6350">
            <a:solidFill>
              <a:srgbClr val="7F79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43903" y="4690872"/>
            <a:ext cx="181805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F2EEE7"/>
                </a:solidFill>
                <a:latin typeface="Helvetica Neue"/>
              </a:rPr>
              <a:t>Data-residency commitments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28887" y="2971800"/>
            <a:ext cx="2421559" cy="2788920"/>
          </a:xfrm>
          <a:prstGeom prst="rect">
            <a:avLst/>
          </a:prstGeom>
          <a:solidFill>
            <a:srgbClr val="29231E"/>
          </a:solidFill>
          <a:ln w="9525">
            <a:solidFill>
              <a:srgbClr val="7F79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928887" y="2971800"/>
            <a:ext cx="2421559" cy="82296"/>
          </a:xfrm>
          <a:prstGeom prst="rect">
            <a:avLst/>
          </a:prstGeom>
          <a:solidFill>
            <a:srgbClr val="969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30055" y="3227832"/>
            <a:ext cx="24215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F2EEE7"/>
                </a:solidFill>
                <a:latin typeface="Georgia"/>
              </a:rPr>
              <a:t>Stale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0055" y="3630168"/>
            <a:ext cx="24215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00">
                <a:solidFill>
                  <a:srgbClr val="96918C"/>
                </a:solidFill>
                <a:latin typeface="Menlo"/>
              </a:rPr>
              <a:t>REFRESH BEFORE REUSE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30055" y="4032504"/>
            <a:ext cx="2019223" cy="566928"/>
          </a:xfrm>
          <a:prstGeom prst="rect">
            <a:avLst/>
          </a:prstGeom>
          <a:solidFill>
            <a:srgbClr val="251F1B"/>
          </a:solidFill>
          <a:ln w="6350">
            <a:solidFill>
              <a:srgbClr val="7F79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39783" y="4032504"/>
            <a:ext cx="181805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F2EEE7"/>
                </a:solidFill>
                <a:latin typeface="Helvetica Neue"/>
              </a:rPr>
              <a:t>Q2 pricing assumptions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30055" y="4690872"/>
            <a:ext cx="2019223" cy="566928"/>
          </a:xfrm>
          <a:prstGeom prst="rect">
            <a:avLst/>
          </a:prstGeom>
          <a:solidFill>
            <a:srgbClr val="251F1B"/>
          </a:solidFill>
          <a:ln w="6350">
            <a:solidFill>
              <a:srgbClr val="7F79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39783" y="4690872"/>
            <a:ext cx="181805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F2EEE7"/>
                </a:solidFill>
                <a:latin typeface="Helvetica Neue"/>
              </a:rPr>
              <a:t>Regulatory example (2023)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41248" y="6455664"/>
            <a:ext cx="10509199" cy="0"/>
          </a:xfrm>
          <a:prstGeom prst="bentConnector3">
            <a:avLst/>
          </a:prstGeom>
          <a:ln w="9525">
            <a:solidFill>
              <a:srgbClr val="29231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41248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200">
                <a:solidFill>
                  <a:srgbClr val="F2EEE7"/>
                </a:solidFill>
                <a:latin typeface="Menlo"/>
              </a:rPr>
              <a:t>ORIENT</a:t>
            </a:r>
            <a:r>
              <a:rPr sz="900" b="0" i="0" spc="120">
                <a:solidFill>
                  <a:srgbClr val="96918C"/>
                </a:solidFill>
                <a:latin typeface="Menlo"/>
              </a:rPr>
              <a:t>  ·  meaning OS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92847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20">
                <a:solidFill>
                  <a:srgbClr val="54769C"/>
                </a:solidFill>
                <a:latin typeface="Menlo"/>
              </a:rPr>
              <a:t>13</a:t>
            </a:r>
            <a:r>
              <a:rPr sz="900" b="0" i="0" spc="120">
                <a:solidFill>
                  <a:srgbClr val="96918C"/>
                </a:solidFill>
                <a:latin typeface="Menlo"/>
              </a:rPr>
              <a:t>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 spc="170">
                <a:solidFill>
                  <a:srgbClr val="7F7974"/>
                </a:solidFill>
                <a:latin typeface="Menlo"/>
              </a:rPr>
              <a:t>THE ARCHITECTURE &amp; THE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280160"/>
            <a:ext cx="104241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 i="0">
                <a:solidFill>
                  <a:srgbClr val="251F1B"/>
                </a:solidFill>
                <a:latin typeface="Georgia"/>
              </a:rPr>
              <a:t>One substrate. Five layers. Two kinds of mind.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2468880"/>
            <a:ext cx="10509199" cy="640080"/>
          </a:xfrm>
          <a:prstGeom prst="rect">
            <a:avLst/>
          </a:prstGeom>
          <a:solidFill>
            <a:srgbClr val="F2EDE4"/>
          </a:solidFill>
          <a:ln w="12700">
            <a:solidFill>
              <a:srgbClr val="DAD5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1248" y="2468880"/>
            <a:ext cx="82296" cy="640080"/>
          </a:xfrm>
          <a:prstGeom prst="rect">
            <a:avLst/>
          </a:prstGeom>
          <a:solidFill>
            <a:srgbClr val="A56C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1288" y="2468880"/>
            <a:ext cx="3291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251F1B"/>
                </a:solidFill>
                <a:latin typeface="Georgia"/>
              </a:rPr>
              <a:t>Human Surfaces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90287" y="2468880"/>
            <a:ext cx="51206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24C47"/>
                </a:solidFill>
                <a:latin typeface="Helvetica Neue"/>
              </a:rPr>
              <a:t>Capture, Resolve, Frame, Measure, Remember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38767" y="2468880"/>
            <a:ext cx="1828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spc="120">
                <a:solidFill>
                  <a:srgbClr val="A56C49"/>
                </a:solidFill>
                <a:latin typeface="Menlo"/>
              </a:rPr>
              <a:t>HUMANS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3172968"/>
            <a:ext cx="10509199" cy="640080"/>
          </a:xfrm>
          <a:prstGeom prst="rect">
            <a:avLst/>
          </a:prstGeom>
          <a:solidFill>
            <a:srgbClr val="F2EDE4"/>
          </a:solidFill>
          <a:ln w="12700">
            <a:solidFill>
              <a:srgbClr val="DAD5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1248" y="3172968"/>
            <a:ext cx="82296" cy="640080"/>
          </a:xfrm>
          <a:prstGeom prst="rect">
            <a:avLst/>
          </a:prstGeom>
          <a:solidFill>
            <a:srgbClr val="524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1288" y="3172968"/>
            <a:ext cx="3291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251F1B"/>
                </a:solidFill>
                <a:latin typeface="Georgia"/>
              </a:rPr>
              <a:t>Meaning Objects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7" y="3172968"/>
            <a:ext cx="51206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24C47"/>
                </a:solidFill>
                <a:latin typeface="Helvetica Neue"/>
              </a:rPr>
              <a:t>Claims, evidence, answers, frames, audiences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38767" y="3172968"/>
            <a:ext cx="1828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spc="120">
                <a:solidFill>
                  <a:srgbClr val="524C47"/>
                </a:solidFill>
                <a:latin typeface="Menlo"/>
              </a:rPr>
              <a:t>SHARED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3877056"/>
            <a:ext cx="10509199" cy="640080"/>
          </a:xfrm>
          <a:prstGeom prst="rect">
            <a:avLst/>
          </a:prstGeom>
          <a:solidFill>
            <a:srgbClr val="F2EDE4"/>
          </a:solidFill>
          <a:ln w="12700">
            <a:solidFill>
              <a:srgbClr val="DAD5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" y="3877056"/>
            <a:ext cx="82296" cy="640080"/>
          </a:xfrm>
          <a:prstGeom prst="rect">
            <a:avLst/>
          </a:prstGeom>
          <a:solidFill>
            <a:srgbClr val="5476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61288" y="3877056"/>
            <a:ext cx="3291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251F1B"/>
                </a:solidFill>
                <a:latin typeface="Georgia"/>
              </a:rPr>
              <a:t>Agent Context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7" y="3877056"/>
            <a:ext cx="51206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24C47"/>
                </a:solidFill>
                <a:latin typeface="Helvetica Neue"/>
              </a:rPr>
              <a:t>Context, answer, briefing &amp; memory packs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38767" y="3877056"/>
            <a:ext cx="1828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spc="120">
                <a:solidFill>
                  <a:srgbClr val="54769C"/>
                </a:solidFill>
                <a:latin typeface="Menlo"/>
              </a:rPr>
              <a:t>MACHINES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" y="4581144"/>
            <a:ext cx="10509199" cy="640080"/>
          </a:xfrm>
          <a:prstGeom prst="rect">
            <a:avLst/>
          </a:prstGeom>
          <a:solidFill>
            <a:srgbClr val="F2EDE4"/>
          </a:solidFill>
          <a:ln w="12700">
            <a:solidFill>
              <a:srgbClr val="DAD5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1248" y="4581144"/>
            <a:ext cx="82296" cy="640080"/>
          </a:xfrm>
          <a:prstGeom prst="rect">
            <a:avLst/>
          </a:prstGeom>
          <a:solidFill>
            <a:srgbClr val="5476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61288" y="4581144"/>
            <a:ext cx="3291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251F1B"/>
                </a:solidFill>
                <a:latin typeface="Georgia"/>
              </a:rPr>
              <a:t>Agent Runtime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7" y="4581144"/>
            <a:ext cx="51206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24C47"/>
                </a:solidFill>
                <a:latin typeface="Helvetica Neue"/>
              </a:rPr>
              <a:t>APIs, SDK, MCP, grounding &amp; meaning validation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38767" y="4581144"/>
            <a:ext cx="1828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spc="120">
                <a:solidFill>
                  <a:srgbClr val="54769C"/>
                </a:solidFill>
                <a:latin typeface="Menlo"/>
              </a:rPr>
              <a:t>MACHINES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1248" y="5285232"/>
            <a:ext cx="10509199" cy="640080"/>
          </a:xfrm>
          <a:prstGeom prst="rect">
            <a:avLst/>
          </a:prstGeom>
          <a:solidFill>
            <a:srgbClr val="F2EDE4"/>
          </a:solidFill>
          <a:ln w="12700">
            <a:solidFill>
              <a:srgbClr val="DAD5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41248" y="5285232"/>
            <a:ext cx="82296" cy="640080"/>
          </a:xfrm>
          <a:prstGeom prst="rect">
            <a:avLst/>
          </a:prstGeom>
          <a:solidFill>
            <a:srgbClr val="A56C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61288" y="5285232"/>
            <a:ext cx="3291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251F1B"/>
                </a:solidFill>
                <a:latin typeface="Georgia"/>
              </a:rPr>
              <a:t>Feedback Loop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0287" y="5285232"/>
            <a:ext cx="51206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24C47"/>
                </a:solidFill>
                <a:latin typeface="Helvetica Neue"/>
              </a:rPr>
              <a:t>What was read, believed, understood — remembered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38767" y="5285232"/>
            <a:ext cx="1828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spc="120">
                <a:solidFill>
                  <a:srgbClr val="A56C49"/>
                </a:solidFill>
                <a:latin typeface="Menlo"/>
              </a:rPr>
              <a:t>COMPOUNDS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41248" y="6455664"/>
            <a:ext cx="10509199" cy="0"/>
          </a:xfrm>
          <a:prstGeom prst="bentConnector3">
            <a:avLst/>
          </a:prstGeom>
          <a:ln w="9525">
            <a:solidFill>
              <a:srgbClr val="C2BD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41248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200">
                <a:solidFill>
                  <a:srgbClr val="251F1B"/>
                </a:solidFill>
                <a:latin typeface="Menlo"/>
              </a:rPr>
              <a:t>ORIENT</a:t>
            </a:r>
            <a:r>
              <a:rPr sz="900" b="0" i="0" spc="120">
                <a:solidFill>
                  <a:srgbClr val="7F7974"/>
                </a:solidFill>
                <a:latin typeface="Menlo"/>
              </a:rPr>
              <a:t>  ·  meaning 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92847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20">
                <a:solidFill>
                  <a:srgbClr val="A56C49"/>
                </a:solidFill>
                <a:latin typeface="Menlo"/>
              </a:rPr>
              <a:t>14</a:t>
            </a:r>
            <a:r>
              <a:rPr sz="900" b="0" i="0" spc="120">
                <a:solidFill>
                  <a:srgbClr val="7F7974"/>
                </a:solidFill>
                <a:latin typeface="Menlo"/>
              </a:rPr>
              <a:t>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 spc="170">
                <a:solidFill>
                  <a:srgbClr val="7F7974"/>
                </a:solidFill>
                <a:latin typeface="Menlo"/>
              </a:rPr>
              <a:t>WHO IT'S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280160"/>
            <a:ext cx="10058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 i="0">
                <a:solidFill>
                  <a:srgbClr val="251F1B"/>
                </a:solidFill>
                <a:latin typeface="Georgia"/>
              </a:rPr>
              <a:t>Organisations operating in complexity.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2468880"/>
            <a:ext cx="3320186" cy="868680"/>
          </a:xfrm>
          <a:prstGeom prst="rect">
            <a:avLst/>
          </a:prstGeom>
          <a:solidFill>
            <a:srgbClr val="F2EDE4"/>
          </a:solidFill>
          <a:ln w="12700">
            <a:solidFill>
              <a:srgbClr val="DAD5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286298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251F1B"/>
                </a:solidFill>
                <a:latin typeface="Georgia"/>
              </a:rPr>
              <a:t>Leadership &amp; strategy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5754" y="2468880"/>
            <a:ext cx="3320186" cy="868680"/>
          </a:xfrm>
          <a:prstGeom prst="rect">
            <a:avLst/>
          </a:prstGeom>
          <a:solidFill>
            <a:srgbClr val="F2EDE4"/>
          </a:solidFill>
          <a:ln w="12700">
            <a:solidFill>
              <a:srgbClr val="DAD5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91786" y="2468880"/>
            <a:ext cx="286298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251F1B"/>
                </a:solidFill>
                <a:latin typeface="Georgia"/>
              </a:rPr>
              <a:t>Internal alignment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8030260" y="2468880"/>
            <a:ext cx="3320186" cy="868680"/>
          </a:xfrm>
          <a:prstGeom prst="rect">
            <a:avLst/>
          </a:prstGeom>
          <a:solidFill>
            <a:srgbClr val="F2EDE4"/>
          </a:solidFill>
          <a:ln w="12700">
            <a:solidFill>
              <a:srgbClr val="DAD5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292" y="2468880"/>
            <a:ext cx="286298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251F1B"/>
                </a:solidFill>
                <a:latin typeface="Georgia"/>
              </a:rPr>
              <a:t>Customer comms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3538728"/>
            <a:ext cx="3320186" cy="868680"/>
          </a:xfrm>
          <a:prstGeom prst="rect">
            <a:avLst/>
          </a:prstGeom>
          <a:solidFill>
            <a:srgbClr val="F2EDE4"/>
          </a:solidFill>
          <a:ln w="12700">
            <a:solidFill>
              <a:srgbClr val="DAD5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538728"/>
            <a:ext cx="286298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251F1B"/>
                </a:solidFill>
                <a:latin typeface="Georgia"/>
              </a:rPr>
              <a:t>R&amp;D &amp; research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5754" y="3538728"/>
            <a:ext cx="3320186" cy="868680"/>
          </a:xfrm>
          <a:prstGeom prst="rect">
            <a:avLst/>
          </a:prstGeom>
          <a:solidFill>
            <a:srgbClr val="F2EDE4"/>
          </a:solidFill>
          <a:ln w="12700">
            <a:solidFill>
              <a:srgbClr val="DAD5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91786" y="3538728"/>
            <a:ext cx="286298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251F1B"/>
                </a:solidFill>
                <a:latin typeface="Georgia"/>
              </a:rPr>
              <a:t>Regulation &amp; governance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30260" y="3538728"/>
            <a:ext cx="3320186" cy="868680"/>
          </a:xfrm>
          <a:prstGeom prst="rect">
            <a:avLst/>
          </a:prstGeom>
          <a:solidFill>
            <a:srgbClr val="F2EDE4"/>
          </a:solidFill>
          <a:ln w="12700">
            <a:solidFill>
              <a:srgbClr val="DAD5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6292" y="3538728"/>
            <a:ext cx="286298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251F1B"/>
                </a:solidFill>
                <a:latin typeface="Georgia"/>
              </a:rPr>
              <a:t>Cross-functional ops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534924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 spc="100">
                <a:solidFill>
                  <a:srgbClr val="A56C49"/>
                </a:solidFill>
                <a:latin typeface="Menlo"/>
              </a:rPr>
              <a:t>Dual GTM:  </a:t>
            </a:r>
            <a:r>
              <a:rPr sz="1600" b="0" i="0">
                <a:solidFill>
                  <a:srgbClr val="524C47"/>
                </a:solidFill>
                <a:latin typeface="Helvetica Neue"/>
              </a:rPr>
              <a:t>humans adopt the thinking space; agents create platform lock-in on the same meaning layer.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41248" y="6455664"/>
            <a:ext cx="10509199" cy="0"/>
          </a:xfrm>
          <a:prstGeom prst="bentConnector3">
            <a:avLst/>
          </a:prstGeom>
          <a:ln w="9525">
            <a:solidFill>
              <a:srgbClr val="C2BD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41248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200">
                <a:solidFill>
                  <a:srgbClr val="251F1B"/>
                </a:solidFill>
                <a:latin typeface="Menlo"/>
              </a:rPr>
              <a:t>ORIENT</a:t>
            </a:r>
            <a:r>
              <a:rPr sz="900" b="0" i="0" spc="120">
                <a:solidFill>
                  <a:srgbClr val="7F7974"/>
                </a:solidFill>
                <a:latin typeface="Menlo"/>
              </a:rPr>
              <a:t>  ·  meaning 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2847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20">
                <a:solidFill>
                  <a:srgbClr val="A56C49"/>
                </a:solidFill>
                <a:latin typeface="Menlo"/>
              </a:rPr>
              <a:t>15</a:t>
            </a:r>
            <a:r>
              <a:rPr sz="900" b="0" i="0" spc="120">
                <a:solidFill>
                  <a:srgbClr val="7F7974"/>
                </a:solidFill>
                <a:latin typeface="Menlo"/>
              </a:rPr>
              <a:t>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 spc="170">
                <a:solidFill>
                  <a:srgbClr val="7C95B1"/>
                </a:solidFill>
                <a:latin typeface="Menlo"/>
              </a:rPr>
              <a:t>THE CATEGORY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280160"/>
            <a:ext cx="104241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 i="0">
                <a:solidFill>
                  <a:srgbClr val="F2EEE7"/>
                </a:solidFill>
                <a:latin typeface="Georgia"/>
              </a:rPr>
              <a:t>One thinking space, three scales of meaning.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2560320"/>
            <a:ext cx="3259226" cy="2468880"/>
          </a:xfrm>
          <a:prstGeom prst="rect">
            <a:avLst/>
          </a:prstGeom>
          <a:solidFill>
            <a:srgbClr val="29231E"/>
          </a:solidFill>
          <a:ln w="9525">
            <a:solidFill>
              <a:srgbClr val="7F79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" y="2816352"/>
            <a:ext cx="267401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spc="130">
                <a:solidFill>
                  <a:srgbClr val="7C95B1"/>
                </a:solidFill>
                <a:latin typeface="Menlo"/>
              </a:rPr>
              <a:t>FOR AN INDIVIDUAL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" y="3200400"/>
            <a:ext cx="267401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F2EEE7"/>
                </a:solidFill>
                <a:latin typeface="Georgia"/>
              </a:rPr>
              <a:t>A calm thinking environment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4069080"/>
            <a:ext cx="267401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96918C"/>
                </a:solidFill>
                <a:latin typeface="Helvetica Neue"/>
              </a:rPr>
              <a:t>Gather material, ask better questions, remember what matters.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66234" y="2560320"/>
            <a:ext cx="3259226" cy="2468880"/>
          </a:xfrm>
          <a:prstGeom prst="rect">
            <a:avLst/>
          </a:prstGeom>
          <a:solidFill>
            <a:srgbClr val="29231E"/>
          </a:solidFill>
          <a:ln w="9525">
            <a:solidFill>
              <a:srgbClr val="7F79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8842" y="2816352"/>
            <a:ext cx="267401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spc="130">
                <a:solidFill>
                  <a:srgbClr val="7C95B1"/>
                </a:solidFill>
                <a:latin typeface="Menlo"/>
              </a:rPr>
              <a:t>FOR A 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8842" y="3200400"/>
            <a:ext cx="267401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F2EEE7"/>
                </a:solidFill>
                <a:latin typeface="Georgia"/>
              </a:rPr>
              <a:t>Shared intelligence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8842" y="4069080"/>
            <a:ext cx="267401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96918C"/>
                </a:solidFill>
                <a:latin typeface="Helvetica Neue"/>
              </a:rPr>
              <a:t>A living map of what's known, believed, decided and still open.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1220" y="2560320"/>
            <a:ext cx="3259226" cy="2468880"/>
          </a:xfrm>
          <a:prstGeom prst="rect">
            <a:avLst/>
          </a:prstGeom>
          <a:solidFill>
            <a:srgbClr val="29231E"/>
          </a:solidFill>
          <a:ln w="9525">
            <a:solidFill>
              <a:srgbClr val="7F79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3828" y="2816352"/>
            <a:ext cx="267401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spc="130">
                <a:solidFill>
                  <a:srgbClr val="7C95B1"/>
                </a:solidFill>
                <a:latin typeface="Menlo"/>
              </a:rPr>
              <a:t>FOR AN ORGANISATION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3828" y="3200400"/>
            <a:ext cx="267401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F2EEE7"/>
                </a:solidFill>
                <a:latin typeface="Georgia"/>
              </a:rPr>
              <a:t>A meaning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3828" y="4069080"/>
            <a:ext cx="267401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96918C"/>
                </a:solidFill>
                <a:latin typeface="Helvetica Neue"/>
              </a:rPr>
              <a:t>Not a repo or dashboard — a system that turns knowledge into orientation.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553212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spc="80">
                <a:solidFill>
                  <a:srgbClr val="7F7974"/>
                </a:solidFill>
                <a:latin typeface="Menlo"/>
              </a:rPr>
              <a:t>Not a file repository  ·  not a chat archive  ·  not a dashboard  ·  not a generic AI assistant.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41248" y="6455664"/>
            <a:ext cx="10509199" cy="0"/>
          </a:xfrm>
          <a:prstGeom prst="bentConnector3">
            <a:avLst/>
          </a:prstGeom>
          <a:ln w="9525">
            <a:solidFill>
              <a:srgbClr val="29231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41248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200">
                <a:solidFill>
                  <a:srgbClr val="F2EEE7"/>
                </a:solidFill>
                <a:latin typeface="Menlo"/>
              </a:rPr>
              <a:t>ORIENT</a:t>
            </a:r>
            <a:r>
              <a:rPr sz="900" b="0" i="0" spc="120">
                <a:solidFill>
                  <a:srgbClr val="96918C"/>
                </a:solidFill>
                <a:latin typeface="Menlo"/>
              </a:rPr>
              <a:t>  ·  meaning 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2847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20">
                <a:solidFill>
                  <a:srgbClr val="54769C"/>
                </a:solidFill>
                <a:latin typeface="Menlo"/>
              </a:rPr>
              <a:t>16</a:t>
            </a:r>
            <a:r>
              <a:rPr sz="900" b="0" i="0" spc="120">
                <a:solidFill>
                  <a:srgbClr val="96918C"/>
                </a:solidFill>
                <a:latin typeface="Menlo"/>
              </a:rPr>
              <a:t>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 spc="170">
                <a:solidFill>
                  <a:srgbClr val="7F7974"/>
                </a:solidFill>
                <a:latin typeface="Menlo"/>
              </a:rPr>
              <a:t>TEAM &amp;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554480"/>
            <a:ext cx="10058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251F1B"/>
                </a:solidFill>
                <a:latin typeface="Georgia"/>
              </a:rPr>
              <a:t>The next advantage won't come from
producing more. It will come from being </a:t>
            </a:r>
            <a:r>
              <a:rPr sz="4000" b="0" i="1">
                <a:solidFill>
                  <a:srgbClr val="A56C49"/>
                </a:solidFill>
                <a:latin typeface="Georgia"/>
              </a:rPr>
              <a:t>understood.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4023360"/>
            <a:ext cx="2743200" cy="0"/>
          </a:xfrm>
          <a:prstGeom prst="bentConnector3">
            <a:avLst/>
          </a:prstGeom>
          <a:ln w="25400">
            <a:solidFill>
              <a:srgbClr val="A56C4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41248" y="4297680"/>
            <a:ext cx="10241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524C47"/>
                </a:solidFill>
                <a:latin typeface="Helvetica Neue"/>
              </a:rPr>
              <a:t>Built by a team spanning reasoning systems, language models, agentic architectures, optimisation and vision. Across every domain the pattern was identical: output accelerated, but shared understanding did not. Orient is our answer to that gap — infrastructure for alignment.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41248" y="6455664"/>
            <a:ext cx="10509199" cy="0"/>
          </a:xfrm>
          <a:prstGeom prst="bentConnector3">
            <a:avLst/>
          </a:prstGeom>
          <a:ln w="9525">
            <a:solidFill>
              <a:srgbClr val="C2BD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41248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200">
                <a:solidFill>
                  <a:srgbClr val="251F1B"/>
                </a:solidFill>
                <a:latin typeface="Menlo"/>
              </a:rPr>
              <a:t>ORIENT</a:t>
            </a:r>
            <a:r>
              <a:rPr sz="900" b="0" i="0" spc="120">
                <a:solidFill>
                  <a:srgbClr val="7F7974"/>
                </a:solidFill>
                <a:latin typeface="Menlo"/>
              </a:rPr>
              <a:t>  ·  meaning 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92847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20">
                <a:solidFill>
                  <a:srgbClr val="A56C49"/>
                </a:solidFill>
                <a:latin typeface="Menlo"/>
              </a:rPr>
              <a:t>17</a:t>
            </a:r>
            <a:r>
              <a:rPr sz="900" b="0" i="0" spc="120">
                <a:solidFill>
                  <a:srgbClr val="7F7974"/>
                </a:solidFill>
                <a:latin typeface="Menlo"/>
              </a:rPr>
              <a:t>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" y="786384"/>
            <a:ext cx="512064" cy="512064"/>
          </a:xfrm>
          <a:prstGeom prst="ellipse">
            <a:avLst/>
          </a:prstGeom>
          <a:solidFill>
            <a:srgbClr val="FF00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4-Point Star 3"/>
          <p:cNvSpPr/>
          <p:nvPr/>
        </p:nvSpPr>
        <p:spPr>
          <a:xfrm>
            <a:off x="902695" y="847831"/>
            <a:ext cx="389170" cy="389170"/>
          </a:xfrm>
          <a:prstGeom prst="star4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81328" y="786384"/>
            <a:ext cx="36576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0" i="0">
                <a:solidFill>
                  <a:srgbClr val="F2EEE7"/>
                </a:solidFill>
                <a:latin typeface="Georgia"/>
              </a:rPr>
              <a:t>Orient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286000"/>
            <a:ext cx="104241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 i="0">
                <a:solidFill>
                  <a:srgbClr val="F2EEE7"/>
                </a:solidFill>
                <a:latin typeface="Georgia"/>
              </a:rPr>
              <a:t>Work from the same understanding.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840480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96918C"/>
                </a:solidFill>
                <a:latin typeface="Helvetica Neue"/>
              </a:rPr>
              <a:t>Orient is shared memory and meaning infrastructure for the age of agents. We're raising to build the platform and onboard design partners in regulated, high-complexity organisations.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5212080"/>
            <a:ext cx="1971446" cy="457200"/>
          </a:xfrm>
          <a:prstGeom prst="rect">
            <a:avLst/>
          </a:prstGeom>
          <a:solidFill>
            <a:srgbClr val="29231E"/>
          </a:solidFill>
          <a:ln w="9525">
            <a:solidFill>
              <a:srgbClr val="7F79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5212080"/>
            <a:ext cx="197144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F2EEE7"/>
                </a:solidFill>
                <a:latin typeface="Menlo"/>
              </a:rPr>
              <a:t>The round  →  ____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95574" y="5212080"/>
            <a:ext cx="3065068" cy="457200"/>
          </a:xfrm>
          <a:prstGeom prst="rect">
            <a:avLst/>
          </a:prstGeom>
          <a:solidFill>
            <a:srgbClr val="29231E"/>
          </a:solidFill>
          <a:ln w="9525">
            <a:solidFill>
              <a:srgbClr val="7F79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5574" y="5212080"/>
            <a:ext cx="30650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F2EEE7"/>
                </a:solidFill>
                <a:latin typeface="Menlo"/>
              </a:rPr>
              <a:t>Use of funds  →  platform + GTM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3522" y="5212080"/>
            <a:ext cx="3653942" cy="457200"/>
          </a:xfrm>
          <a:prstGeom prst="rect">
            <a:avLst/>
          </a:prstGeom>
          <a:solidFill>
            <a:srgbClr val="29231E"/>
          </a:solidFill>
          <a:ln w="9525">
            <a:solidFill>
              <a:srgbClr val="7F79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43522" y="5212080"/>
            <a:ext cx="365394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F2EEE7"/>
                </a:solidFill>
                <a:latin typeface="Menlo"/>
              </a:rPr>
              <a:t>Looking for  →  partners in complexity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6126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spc="100">
                <a:solidFill>
                  <a:srgbClr val="7C95B1"/>
                </a:solidFill>
                <a:latin typeface="Menlo"/>
              </a:rPr>
              <a:t>mikael@orientos.ai  ·  Malmskillnadsgatan 32, Stockholm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